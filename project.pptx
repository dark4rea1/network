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Barlow" charset="1" panose="00000500000000000000"/>
      <p:regular r:id="rId17"/>
    </p:embeddedFont>
    <p:embeddedFont>
      <p:font typeface="Barlow Bold" charset="1" panose="00000800000000000000"/>
      <p:regular r:id="rId18"/>
    </p:embeddedFont>
    <p:embeddedFont>
      <p:font typeface="Consolas" charset="1" panose="020B06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977" y="2161442"/>
            <a:ext cx="5918072" cy="5964115"/>
            <a:chOff x="0" y="0"/>
            <a:chExt cx="23161668" cy="23341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61668" cy="23341867"/>
            </a:xfrm>
            <a:custGeom>
              <a:avLst/>
              <a:gdLst/>
              <a:ahLst/>
              <a:cxnLst/>
              <a:rect r="r" b="b" t="t" l="l"/>
              <a:pathLst>
                <a:path h="23341867" w="23161668">
                  <a:moveTo>
                    <a:pt x="0" y="0"/>
                  </a:moveTo>
                  <a:lnTo>
                    <a:pt x="23161668" y="0"/>
                  </a:lnTo>
                  <a:lnTo>
                    <a:pt x="23161668" y="23341867"/>
                  </a:lnTo>
                  <a:lnTo>
                    <a:pt x="0" y="23341867"/>
                  </a:lnTo>
                  <a:close/>
                </a:path>
              </a:pathLst>
            </a:custGeom>
            <a:blipFill>
              <a:blip r:embed="rId3">
                <a:alphaModFix amt="75000"/>
              </a:blip>
              <a:stretch>
                <a:fillRect l="-2133" t="0" r="-213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938049" y="2311898"/>
            <a:ext cx="9269911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Network Monitoring System Using Flask &amp; GNS3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38049" y="4441622"/>
            <a:ext cx="9269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Multi-Department University Network Design with Web-Based Device Monitoring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38049" y="6054033"/>
            <a:ext cx="4258570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By: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Isam Muwhaid &amp; Mosab Basheer</a:t>
            </a:r>
          </a:p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IDs: 12505049 · 12400328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58915" y="6054033"/>
            <a:ext cx="4258570" cy="191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2375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Supervised By:</a:t>
            </a:r>
          </a:p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Eng. Ibrahim Fathi Mahmoud Amria &amp; Dr. Jihad Mahmoud Amin Hamamra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70558" y="-304260"/>
            <a:ext cx="6517442" cy="10591260"/>
            <a:chOff x="0" y="0"/>
            <a:chExt cx="24384000" cy="39625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39625556"/>
            </a:xfrm>
            <a:custGeom>
              <a:avLst/>
              <a:gdLst/>
              <a:ahLst/>
              <a:cxnLst/>
              <a:rect r="r" b="b" t="t" l="l"/>
              <a:pathLst>
                <a:path h="3962555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9625556"/>
                  </a:lnTo>
                  <a:lnTo>
                    <a:pt x="0" y="39625556"/>
                  </a:lnTo>
                  <a:close/>
                </a:path>
              </a:pathLst>
            </a:custGeom>
            <a:blipFill>
              <a:blip r:embed="rId3">
                <a:alphaModFix amt="75000"/>
              </a:blip>
              <a:stretch>
                <a:fillRect l="-4134" t="0" r="-413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831477"/>
            <a:ext cx="9269911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Introduction &amp; 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4345934"/>
            <a:ext cx="392043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Why Monitoring Matters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9" y="5006873"/>
            <a:ext cx="4258570" cy="328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Networks are essential in modern systems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Monitoring ensures reliability and uptime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Helps detect failures early before they escalate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00915" y="4345934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00915" y="5006873"/>
            <a:ext cx="4258570" cy="328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Multiple devices spread across different labs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No easy way to track device status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Manual checking is slow and inefficient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950073"/>
            <a:ext cx="1261645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Objectives &amp; Proposed Solution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0999" y="4462615"/>
            <a:ext cx="5208384" cy="2836069"/>
            <a:chOff x="0" y="0"/>
            <a:chExt cx="6944512" cy="37814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893687" cy="3730625"/>
            </a:xfrm>
            <a:custGeom>
              <a:avLst/>
              <a:gdLst/>
              <a:ahLst/>
              <a:cxnLst/>
              <a:rect r="r" b="b" t="t" l="l"/>
              <a:pathLst>
                <a:path h="3730625" w="6893687">
                  <a:moveTo>
                    <a:pt x="0" y="617220"/>
                  </a:moveTo>
                  <a:cubicBezTo>
                    <a:pt x="0" y="276352"/>
                    <a:pt x="278003" y="0"/>
                    <a:pt x="621030" y="0"/>
                  </a:cubicBezTo>
                  <a:lnTo>
                    <a:pt x="6272657" y="0"/>
                  </a:lnTo>
                  <a:cubicBezTo>
                    <a:pt x="6615684" y="0"/>
                    <a:pt x="6893687" y="276352"/>
                    <a:pt x="6893687" y="617220"/>
                  </a:cubicBezTo>
                  <a:lnTo>
                    <a:pt x="6893687" y="3113405"/>
                  </a:lnTo>
                  <a:cubicBezTo>
                    <a:pt x="6893687" y="3454273"/>
                    <a:pt x="6615684" y="3730625"/>
                    <a:pt x="6272657" y="3730625"/>
                  </a:cubicBezTo>
                  <a:lnTo>
                    <a:pt x="621030" y="3730625"/>
                  </a:lnTo>
                  <a:cubicBezTo>
                    <a:pt x="278003" y="3730625"/>
                    <a:pt x="0" y="3454273"/>
                    <a:pt x="0" y="3113405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4487" cy="3781425"/>
            </a:xfrm>
            <a:custGeom>
              <a:avLst/>
              <a:gdLst/>
              <a:ahLst/>
              <a:cxnLst/>
              <a:rect r="r" b="b" t="t" l="l"/>
              <a:pathLst>
                <a:path h="3781425" w="6944487">
                  <a:moveTo>
                    <a:pt x="0" y="642620"/>
                  </a:moveTo>
                  <a:cubicBezTo>
                    <a:pt x="0" y="287528"/>
                    <a:pt x="289560" y="0"/>
                    <a:pt x="646430" y="0"/>
                  </a:cubicBezTo>
                  <a:lnTo>
                    <a:pt x="6298057" y="0"/>
                  </a:lnTo>
                  <a:lnTo>
                    <a:pt x="6298057" y="25400"/>
                  </a:lnTo>
                  <a:lnTo>
                    <a:pt x="6298057" y="0"/>
                  </a:lnTo>
                  <a:cubicBezTo>
                    <a:pt x="6654927" y="0"/>
                    <a:pt x="6944487" y="287528"/>
                    <a:pt x="6944487" y="642620"/>
                  </a:cubicBezTo>
                  <a:lnTo>
                    <a:pt x="6919087" y="642620"/>
                  </a:lnTo>
                  <a:lnTo>
                    <a:pt x="6944487" y="642620"/>
                  </a:lnTo>
                  <a:lnTo>
                    <a:pt x="6944487" y="3138805"/>
                  </a:lnTo>
                  <a:lnTo>
                    <a:pt x="6919087" y="3138805"/>
                  </a:lnTo>
                  <a:lnTo>
                    <a:pt x="6944487" y="3138805"/>
                  </a:lnTo>
                  <a:cubicBezTo>
                    <a:pt x="6944487" y="3493897"/>
                    <a:pt x="6654927" y="3781425"/>
                    <a:pt x="6298057" y="3781425"/>
                  </a:cubicBezTo>
                  <a:lnTo>
                    <a:pt x="6298057" y="3756025"/>
                  </a:lnTo>
                  <a:lnTo>
                    <a:pt x="6298057" y="3781425"/>
                  </a:lnTo>
                  <a:lnTo>
                    <a:pt x="646430" y="3781425"/>
                  </a:lnTo>
                  <a:lnTo>
                    <a:pt x="646430" y="3756025"/>
                  </a:lnTo>
                  <a:lnTo>
                    <a:pt x="646430" y="3781425"/>
                  </a:lnTo>
                  <a:cubicBezTo>
                    <a:pt x="289560" y="3781425"/>
                    <a:pt x="0" y="3493897"/>
                    <a:pt x="0" y="3138805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3138805"/>
                  </a:lnTo>
                  <a:lnTo>
                    <a:pt x="25400" y="3138805"/>
                  </a:lnTo>
                  <a:lnTo>
                    <a:pt x="50800" y="3138805"/>
                  </a:lnTo>
                  <a:cubicBezTo>
                    <a:pt x="50800" y="3465576"/>
                    <a:pt x="317373" y="3730625"/>
                    <a:pt x="646430" y="3730625"/>
                  </a:cubicBezTo>
                  <a:lnTo>
                    <a:pt x="6298057" y="3730625"/>
                  </a:lnTo>
                  <a:cubicBezTo>
                    <a:pt x="6627241" y="3730625"/>
                    <a:pt x="6893687" y="3465449"/>
                    <a:pt x="6893687" y="3138805"/>
                  </a:cubicBezTo>
                  <a:lnTo>
                    <a:pt x="6893687" y="642620"/>
                  </a:lnTo>
                  <a:cubicBezTo>
                    <a:pt x="6893687" y="315849"/>
                    <a:pt x="6627114" y="50800"/>
                    <a:pt x="6298057" y="50800"/>
                  </a:cubicBezTo>
                  <a:lnTo>
                    <a:pt x="646430" y="50800"/>
                  </a:lnTo>
                  <a:lnTo>
                    <a:pt x="646430" y="25400"/>
                  </a:lnTo>
                  <a:lnTo>
                    <a:pt x="646430" y="50800"/>
                  </a:lnTo>
                  <a:cubicBezTo>
                    <a:pt x="317373" y="50800"/>
                    <a:pt x="50800" y="315976"/>
                    <a:pt x="50800" y="64262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6664" y="4799705"/>
            <a:ext cx="3429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🎯</a:t>
            </a: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Build a Monitor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6664" y="5346802"/>
            <a:ext cx="4477045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Design a real-time device status monitoring system for a simulated campus network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39808" y="4462615"/>
            <a:ext cx="5208384" cy="2836069"/>
            <a:chOff x="0" y="0"/>
            <a:chExt cx="6944512" cy="37814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893687" cy="3730625"/>
            </a:xfrm>
            <a:custGeom>
              <a:avLst/>
              <a:gdLst/>
              <a:ahLst/>
              <a:cxnLst/>
              <a:rect r="r" b="b" t="t" l="l"/>
              <a:pathLst>
                <a:path h="3730625" w="6893687">
                  <a:moveTo>
                    <a:pt x="0" y="617220"/>
                  </a:moveTo>
                  <a:cubicBezTo>
                    <a:pt x="0" y="276352"/>
                    <a:pt x="278003" y="0"/>
                    <a:pt x="621030" y="0"/>
                  </a:cubicBezTo>
                  <a:lnTo>
                    <a:pt x="6272657" y="0"/>
                  </a:lnTo>
                  <a:cubicBezTo>
                    <a:pt x="6615684" y="0"/>
                    <a:pt x="6893687" y="276352"/>
                    <a:pt x="6893687" y="617220"/>
                  </a:cubicBezTo>
                  <a:lnTo>
                    <a:pt x="6893687" y="3113405"/>
                  </a:lnTo>
                  <a:cubicBezTo>
                    <a:pt x="6893687" y="3454273"/>
                    <a:pt x="6615684" y="3730625"/>
                    <a:pt x="6272657" y="3730625"/>
                  </a:cubicBezTo>
                  <a:lnTo>
                    <a:pt x="621030" y="3730625"/>
                  </a:lnTo>
                  <a:cubicBezTo>
                    <a:pt x="278003" y="3730625"/>
                    <a:pt x="0" y="3454273"/>
                    <a:pt x="0" y="3113405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44487" cy="3781425"/>
            </a:xfrm>
            <a:custGeom>
              <a:avLst/>
              <a:gdLst/>
              <a:ahLst/>
              <a:cxnLst/>
              <a:rect r="r" b="b" t="t" l="l"/>
              <a:pathLst>
                <a:path h="3781425" w="6944487">
                  <a:moveTo>
                    <a:pt x="0" y="642620"/>
                  </a:moveTo>
                  <a:cubicBezTo>
                    <a:pt x="0" y="287528"/>
                    <a:pt x="289560" y="0"/>
                    <a:pt x="646430" y="0"/>
                  </a:cubicBezTo>
                  <a:lnTo>
                    <a:pt x="6298057" y="0"/>
                  </a:lnTo>
                  <a:lnTo>
                    <a:pt x="6298057" y="25400"/>
                  </a:lnTo>
                  <a:lnTo>
                    <a:pt x="6298057" y="0"/>
                  </a:lnTo>
                  <a:cubicBezTo>
                    <a:pt x="6654927" y="0"/>
                    <a:pt x="6944487" y="287528"/>
                    <a:pt x="6944487" y="642620"/>
                  </a:cubicBezTo>
                  <a:lnTo>
                    <a:pt x="6919087" y="642620"/>
                  </a:lnTo>
                  <a:lnTo>
                    <a:pt x="6944487" y="642620"/>
                  </a:lnTo>
                  <a:lnTo>
                    <a:pt x="6944487" y="3138805"/>
                  </a:lnTo>
                  <a:lnTo>
                    <a:pt x="6919087" y="3138805"/>
                  </a:lnTo>
                  <a:lnTo>
                    <a:pt x="6944487" y="3138805"/>
                  </a:lnTo>
                  <a:cubicBezTo>
                    <a:pt x="6944487" y="3493897"/>
                    <a:pt x="6654927" y="3781425"/>
                    <a:pt x="6298057" y="3781425"/>
                  </a:cubicBezTo>
                  <a:lnTo>
                    <a:pt x="6298057" y="3756025"/>
                  </a:lnTo>
                  <a:lnTo>
                    <a:pt x="6298057" y="3781425"/>
                  </a:lnTo>
                  <a:lnTo>
                    <a:pt x="646430" y="3781425"/>
                  </a:lnTo>
                  <a:lnTo>
                    <a:pt x="646430" y="3756025"/>
                  </a:lnTo>
                  <a:lnTo>
                    <a:pt x="646430" y="3781425"/>
                  </a:lnTo>
                  <a:cubicBezTo>
                    <a:pt x="289560" y="3781425"/>
                    <a:pt x="0" y="3493897"/>
                    <a:pt x="0" y="3138805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3138805"/>
                  </a:lnTo>
                  <a:lnTo>
                    <a:pt x="25400" y="3138805"/>
                  </a:lnTo>
                  <a:lnTo>
                    <a:pt x="50800" y="3138805"/>
                  </a:lnTo>
                  <a:cubicBezTo>
                    <a:pt x="50800" y="3465576"/>
                    <a:pt x="317373" y="3730625"/>
                    <a:pt x="646430" y="3730625"/>
                  </a:cubicBezTo>
                  <a:lnTo>
                    <a:pt x="6298057" y="3730625"/>
                  </a:lnTo>
                  <a:cubicBezTo>
                    <a:pt x="6627241" y="3730625"/>
                    <a:pt x="6893687" y="3465449"/>
                    <a:pt x="6893687" y="3138805"/>
                  </a:cubicBezTo>
                  <a:lnTo>
                    <a:pt x="6893687" y="642620"/>
                  </a:lnTo>
                  <a:cubicBezTo>
                    <a:pt x="6893687" y="315849"/>
                    <a:pt x="6627114" y="50800"/>
                    <a:pt x="6298057" y="50800"/>
                  </a:cubicBezTo>
                  <a:lnTo>
                    <a:pt x="646430" y="50800"/>
                  </a:lnTo>
                  <a:lnTo>
                    <a:pt x="646430" y="25400"/>
                  </a:lnTo>
                  <a:lnTo>
                    <a:pt x="646430" y="50800"/>
                  </a:lnTo>
                  <a:cubicBezTo>
                    <a:pt x="317373" y="50800"/>
                    <a:pt x="50800" y="315976"/>
                    <a:pt x="50800" y="642620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905473" y="4799705"/>
            <a:ext cx="39838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📡</a:t>
            </a: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Ping-Based Detection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5473" y="5346802"/>
            <a:ext cx="4477045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Use ICMP ping to automatically check if each device is UP, UNSTABLE, or DOWN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18616" y="4462615"/>
            <a:ext cx="5208384" cy="2836069"/>
            <a:chOff x="0" y="0"/>
            <a:chExt cx="6944512" cy="37814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6893687" cy="3730625"/>
            </a:xfrm>
            <a:custGeom>
              <a:avLst/>
              <a:gdLst/>
              <a:ahLst/>
              <a:cxnLst/>
              <a:rect r="r" b="b" t="t" l="l"/>
              <a:pathLst>
                <a:path h="3730625" w="6893687">
                  <a:moveTo>
                    <a:pt x="0" y="617220"/>
                  </a:moveTo>
                  <a:cubicBezTo>
                    <a:pt x="0" y="276352"/>
                    <a:pt x="278003" y="0"/>
                    <a:pt x="621030" y="0"/>
                  </a:cubicBezTo>
                  <a:lnTo>
                    <a:pt x="6272657" y="0"/>
                  </a:lnTo>
                  <a:cubicBezTo>
                    <a:pt x="6615684" y="0"/>
                    <a:pt x="6893687" y="276352"/>
                    <a:pt x="6893687" y="617220"/>
                  </a:cubicBezTo>
                  <a:lnTo>
                    <a:pt x="6893687" y="3113405"/>
                  </a:lnTo>
                  <a:cubicBezTo>
                    <a:pt x="6893687" y="3454273"/>
                    <a:pt x="6615684" y="3730625"/>
                    <a:pt x="6272657" y="3730625"/>
                  </a:cubicBezTo>
                  <a:lnTo>
                    <a:pt x="621030" y="3730625"/>
                  </a:lnTo>
                  <a:cubicBezTo>
                    <a:pt x="278003" y="3730625"/>
                    <a:pt x="0" y="3454273"/>
                    <a:pt x="0" y="3113405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44487" cy="3781425"/>
            </a:xfrm>
            <a:custGeom>
              <a:avLst/>
              <a:gdLst/>
              <a:ahLst/>
              <a:cxnLst/>
              <a:rect r="r" b="b" t="t" l="l"/>
              <a:pathLst>
                <a:path h="3781425" w="6944487">
                  <a:moveTo>
                    <a:pt x="0" y="642620"/>
                  </a:moveTo>
                  <a:cubicBezTo>
                    <a:pt x="0" y="287528"/>
                    <a:pt x="289560" y="0"/>
                    <a:pt x="646430" y="0"/>
                  </a:cubicBezTo>
                  <a:lnTo>
                    <a:pt x="6298057" y="0"/>
                  </a:lnTo>
                  <a:lnTo>
                    <a:pt x="6298057" y="25400"/>
                  </a:lnTo>
                  <a:lnTo>
                    <a:pt x="6298057" y="0"/>
                  </a:lnTo>
                  <a:cubicBezTo>
                    <a:pt x="6654927" y="0"/>
                    <a:pt x="6944487" y="287528"/>
                    <a:pt x="6944487" y="642620"/>
                  </a:cubicBezTo>
                  <a:lnTo>
                    <a:pt x="6919087" y="642620"/>
                  </a:lnTo>
                  <a:lnTo>
                    <a:pt x="6944487" y="642620"/>
                  </a:lnTo>
                  <a:lnTo>
                    <a:pt x="6944487" y="3138805"/>
                  </a:lnTo>
                  <a:lnTo>
                    <a:pt x="6919087" y="3138805"/>
                  </a:lnTo>
                  <a:lnTo>
                    <a:pt x="6944487" y="3138805"/>
                  </a:lnTo>
                  <a:cubicBezTo>
                    <a:pt x="6944487" y="3493897"/>
                    <a:pt x="6654927" y="3781425"/>
                    <a:pt x="6298057" y="3781425"/>
                  </a:cubicBezTo>
                  <a:lnTo>
                    <a:pt x="6298057" y="3756025"/>
                  </a:lnTo>
                  <a:lnTo>
                    <a:pt x="6298057" y="3781425"/>
                  </a:lnTo>
                  <a:lnTo>
                    <a:pt x="646430" y="3781425"/>
                  </a:lnTo>
                  <a:lnTo>
                    <a:pt x="646430" y="3756025"/>
                  </a:lnTo>
                  <a:lnTo>
                    <a:pt x="646430" y="3781425"/>
                  </a:lnTo>
                  <a:cubicBezTo>
                    <a:pt x="289560" y="3781425"/>
                    <a:pt x="0" y="3493897"/>
                    <a:pt x="0" y="3138805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3138805"/>
                  </a:lnTo>
                  <a:lnTo>
                    <a:pt x="25400" y="3138805"/>
                  </a:lnTo>
                  <a:lnTo>
                    <a:pt x="50800" y="3138805"/>
                  </a:lnTo>
                  <a:cubicBezTo>
                    <a:pt x="50800" y="3465576"/>
                    <a:pt x="317373" y="3730625"/>
                    <a:pt x="646430" y="3730625"/>
                  </a:cubicBezTo>
                  <a:lnTo>
                    <a:pt x="6298057" y="3730625"/>
                  </a:lnTo>
                  <a:cubicBezTo>
                    <a:pt x="6627241" y="3730625"/>
                    <a:pt x="6893687" y="3465449"/>
                    <a:pt x="6893687" y="3138805"/>
                  </a:cubicBezTo>
                  <a:lnTo>
                    <a:pt x="6893687" y="642620"/>
                  </a:lnTo>
                  <a:cubicBezTo>
                    <a:pt x="6893687" y="315849"/>
                    <a:pt x="6627114" y="50800"/>
                    <a:pt x="6298057" y="50800"/>
                  </a:cubicBezTo>
                  <a:lnTo>
                    <a:pt x="646430" y="50800"/>
                  </a:lnTo>
                  <a:lnTo>
                    <a:pt x="646430" y="25400"/>
                  </a:lnTo>
                  <a:lnTo>
                    <a:pt x="646430" y="50800"/>
                  </a:lnTo>
                  <a:cubicBezTo>
                    <a:pt x="317373" y="50800"/>
                    <a:pt x="50800" y="315976"/>
                    <a:pt x="50800" y="64262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84291" y="4799705"/>
            <a:ext cx="344061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🖥️</a:t>
            </a: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Simple Dashboard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84291" y="5346802"/>
            <a:ext cx="4477045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Provide a clean web interface accessible via browser — no manual CLI needed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436189"/>
            <a:ext cx="6858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Tools &amp; Technologies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80049" y="2967780"/>
            <a:ext cx="617191" cy="617191"/>
          </a:xfrm>
          <a:custGeom>
            <a:avLst/>
            <a:gdLst/>
            <a:ahLst/>
            <a:cxnLst/>
            <a:rect r="r" b="b" t="t" l="l"/>
            <a:pathLst>
              <a:path h="617191" w="617191">
                <a:moveTo>
                  <a:pt x="0" y="0"/>
                </a:moveTo>
                <a:lnTo>
                  <a:pt x="617192" y="0"/>
                </a:lnTo>
                <a:lnTo>
                  <a:pt x="617192" y="617192"/>
                </a:lnTo>
                <a:lnTo>
                  <a:pt x="0" y="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8462" r="0" b="-4846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0049" y="3942159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GNS3 + Cisco IOS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4479722"/>
            <a:ext cx="7871069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Simulates routers, switches, and end devices in a virtual campus environment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36881" y="2967780"/>
            <a:ext cx="617191" cy="617191"/>
          </a:xfrm>
          <a:custGeom>
            <a:avLst/>
            <a:gdLst/>
            <a:ahLst/>
            <a:cxnLst/>
            <a:rect r="r" b="b" t="t" l="l"/>
            <a:pathLst>
              <a:path h="617191" w="617191">
                <a:moveTo>
                  <a:pt x="0" y="0"/>
                </a:moveTo>
                <a:lnTo>
                  <a:pt x="617192" y="0"/>
                </a:lnTo>
                <a:lnTo>
                  <a:pt x="617192" y="617192"/>
                </a:lnTo>
                <a:lnTo>
                  <a:pt x="0" y="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6153" r="0" b="-1615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36881" y="3942159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Python / Flask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6881" y="4479722"/>
            <a:ext cx="7871069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Backend server and web framework powering the monitoring dashboard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80049" y="6189316"/>
            <a:ext cx="617191" cy="617191"/>
          </a:xfrm>
          <a:custGeom>
            <a:avLst/>
            <a:gdLst/>
            <a:ahLst/>
            <a:cxnLst/>
            <a:rect r="r" b="b" t="t" l="l"/>
            <a:pathLst>
              <a:path h="617191" w="617191">
                <a:moveTo>
                  <a:pt x="0" y="0"/>
                </a:moveTo>
                <a:lnTo>
                  <a:pt x="617192" y="0"/>
                </a:lnTo>
                <a:lnTo>
                  <a:pt x="617192" y="617192"/>
                </a:lnTo>
                <a:lnTo>
                  <a:pt x="0" y="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615" r="0" b="-461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80049" y="7163695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SQLite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049" y="7701258"/>
            <a:ext cx="7871069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Lightweight database storing device records, logs, and status history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36881" y="6189316"/>
            <a:ext cx="617191" cy="617191"/>
          </a:xfrm>
          <a:custGeom>
            <a:avLst/>
            <a:gdLst/>
            <a:ahLst/>
            <a:cxnLst/>
            <a:rect r="r" b="b" t="t" l="l"/>
            <a:pathLst>
              <a:path h="617191" w="617191">
                <a:moveTo>
                  <a:pt x="0" y="0"/>
                </a:moveTo>
                <a:lnTo>
                  <a:pt x="617192" y="0"/>
                </a:lnTo>
                <a:lnTo>
                  <a:pt x="617192" y="617192"/>
                </a:lnTo>
                <a:lnTo>
                  <a:pt x="0" y="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845" r="0" b="-384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36881" y="7163695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VMware + Ubuntu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36881" y="7701258"/>
            <a:ext cx="7871069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Ubuntu VM hosts the Flask server; VMware bridges GNS3 and the web app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88654"/>
            <a:ext cx="6858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Network Topology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0049" y="2798264"/>
            <a:ext cx="10219582" cy="6010427"/>
            <a:chOff x="0" y="0"/>
            <a:chExt cx="13626109" cy="80139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626085" cy="8013954"/>
            </a:xfrm>
            <a:custGeom>
              <a:avLst/>
              <a:gdLst/>
              <a:ahLst/>
              <a:cxnLst/>
              <a:rect r="r" b="b" t="t" l="l"/>
              <a:pathLst>
                <a:path h="8013954" w="13626085">
                  <a:moveTo>
                    <a:pt x="0" y="0"/>
                  </a:moveTo>
                  <a:lnTo>
                    <a:pt x="13626085" y="0"/>
                  </a:lnTo>
                  <a:lnTo>
                    <a:pt x="13626085" y="8013954"/>
                  </a:lnTo>
                  <a:lnTo>
                    <a:pt x="0" y="8013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61927" y="2545852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Topology 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61927" y="3206801"/>
            <a:ext cx="5155406" cy="328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b="true" sz="2375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Main Router (R1)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core of the network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b="true" sz="2375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Faculty-A Router (R2)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→ Switch-A → PC-A1, PC-A2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b="true" sz="2375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Faculty-B Router (R3)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→ Switch-B → PC-B1, PC-B2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1927" y="6770189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Devices Used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61927" y="7431138"/>
            <a:ext cx="5155406" cy="180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3× Cisco 3745 Routers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2× Ethernet Switches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4× VPCS End Devices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426521"/>
            <a:ext cx="926321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IP Addressing &amp; Routing Plan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083719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Address Scheme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0524" y="3878466"/>
            <a:ext cx="7706620" cy="4587183"/>
            <a:chOff x="0" y="0"/>
            <a:chExt cx="10275494" cy="61162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75443" cy="6116193"/>
            </a:xfrm>
            <a:custGeom>
              <a:avLst/>
              <a:gdLst/>
              <a:ahLst/>
              <a:cxnLst/>
              <a:rect r="r" b="b" t="t" l="l"/>
              <a:pathLst>
                <a:path h="6116193" w="10275443">
                  <a:moveTo>
                    <a:pt x="0" y="629920"/>
                  </a:moveTo>
                  <a:cubicBezTo>
                    <a:pt x="0" y="282067"/>
                    <a:pt x="282575" y="0"/>
                    <a:pt x="630936" y="0"/>
                  </a:cubicBezTo>
                  <a:lnTo>
                    <a:pt x="9644507" y="0"/>
                  </a:lnTo>
                  <a:lnTo>
                    <a:pt x="9644507" y="12700"/>
                  </a:lnTo>
                  <a:lnTo>
                    <a:pt x="9644507" y="0"/>
                  </a:lnTo>
                  <a:cubicBezTo>
                    <a:pt x="9992995" y="0"/>
                    <a:pt x="10275443" y="282067"/>
                    <a:pt x="10275443" y="629920"/>
                  </a:cubicBezTo>
                  <a:lnTo>
                    <a:pt x="10262743" y="629920"/>
                  </a:lnTo>
                  <a:lnTo>
                    <a:pt x="10275443" y="629920"/>
                  </a:lnTo>
                  <a:lnTo>
                    <a:pt x="10275443" y="5486273"/>
                  </a:lnTo>
                  <a:lnTo>
                    <a:pt x="10262743" y="5486273"/>
                  </a:lnTo>
                  <a:lnTo>
                    <a:pt x="10275443" y="5486273"/>
                  </a:lnTo>
                  <a:cubicBezTo>
                    <a:pt x="10275443" y="5834253"/>
                    <a:pt x="9992868" y="6116193"/>
                    <a:pt x="9644507" y="6116193"/>
                  </a:cubicBezTo>
                  <a:lnTo>
                    <a:pt x="9644507" y="6103493"/>
                  </a:lnTo>
                  <a:lnTo>
                    <a:pt x="9644507" y="6116193"/>
                  </a:lnTo>
                  <a:lnTo>
                    <a:pt x="630936" y="6116193"/>
                  </a:lnTo>
                  <a:lnTo>
                    <a:pt x="630936" y="6103493"/>
                  </a:lnTo>
                  <a:lnTo>
                    <a:pt x="630936" y="6116193"/>
                  </a:lnTo>
                  <a:cubicBezTo>
                    <a:pt x="282575" y="6116193"/>
                    <a:pt x="0" y="5834253"/>
                    <a:pt x="0" y="5486273"/>
                  </a:cubicBezTo>
                  <a:lnTo>
                    <a:pt x="0" y="629920"/>
                  </a:lnTo>
                  <a:lnTo>
                    <a:pt x="12700" y="629920"/>
                  </a:lnTo>
                  <a:lnTo>
                    <a:pt x="0" y="629920"/>
                  </a:lnTo>
                  <a:moveTo>
                    <a:pt x="25400" y="629920"/>
                  </a:moveTo>
                  <a:lnTo>
                    <a:pt x="25400" y="5486273"/>
                  </a:lnTo>
                  <a:lnTo>
                    <a:pt x="12700" y="5486273"/>
                  </a:lnTo>
                  <a:lnTo>
                    <a:pt x="25400" y="5486273"/>
                  </a:lnTo>
                  <a:cubicBezTo>
                    <a:pt x="25400" y="5820156"/>
                    <a:pt x="296545" y="6090793"/>
                    <a:pt x="630936" y="6090793"/>
                  </a:cubicBezTo>
                  <a:lnTo>
                    <a:pt x="9644507" y="6090793"/>
                  </a:lnTo>
                  <a:cubicBezTo>
                    <a:pt x="9979025" y="6090793"/>
                    <a:pt x="10250043" y="5820156"/>
                    <a:pt x="10250043" y="5486273"/>
                  </a:cubicBezTo>
                  <a:lnTo>
                    <a:pt x="10250043" y="629920"/>
                  </a:lnTo>
                  <a:cubicBezTo>
                    <a:pt x="10250043" y="296037"/>
                    <a:pt x="9978898" y="25400"/>
                    <a:pt x="9644507" y="25400"/>
                  </a:cubicBezTo>
                  <a:lnTo>
                    <a:pt x="630936" y="25400"/>
                  </a:lnTo>
                  <a:lnTo>
                    <a:pt x="630936" y="12700"/>
                  </a:lnTo>
                  <a:lnTo>
                    <a:pt x="630936" y="25400"/>
                  </a:lnTo>
                  <a:cubicBezTo>
                    <a:pt x="296545" y="25400"/>
                    <a:pt x="25400" y="296037"/>
                    <a:pt x="25400" y="62992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07766" y="3996928"/>
            <a:ext cx="2815676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Segment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9541" y="3996928"/>
            <a:ext cx="3580505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Subnet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766" y="4899127"/>
            <a:ext cx="2815676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Lab A (Faculty 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59541" y="4899127"/>
            <a:ext cx="3580505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192.168.10.0/24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7766" y="5801316"/>
            <a:ext cx="2815676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Lab B (Faculty B)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59541" y="5801316"/>
            <a:ext cx="3580505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192.168.20.0/24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7766" y="6703514"/>
            <a:ext cx="2815676" cy="61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R1 </a:t>
            </a:r>
            <a:r>
              <a:rPr lang="en-US" sz="2375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↔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R2 Link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9541" y="6703514"/>
            <a:ext cx="3580505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10.0.12.0/30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7766" y="7624763"/>
            <a:ext cx="2815676" cy="61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R1 </a:t>
            </a:r>
            <a:r>
              <a:rPr lang="en-US" sz="2375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↔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R3 Link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59541" y="7624763"/>
            <a:ext cx="3580505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10.0.13.0/30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9915" y="3083719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Static Routing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29915" y="3744668"/>
            <a:ext cx="7687570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Each router is configured with static routes so all faculties can communicate through the Main Router.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29915" y="5184134"/>
            <a:ext cx="7687570" cy="1805140"/>
            <a:chOff x="0" y="0"/>
            <a:chExt cx="10250094" cy="24068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50043" cy="2406904"/>
            </a:xfrm>
            <a:custGeom>
              <a:avLst/>
              <a:gdLst/>
              <a:ahLst/>
              <a:cxnLst/>
              <a:rect r="r" b="b" t="t" l="l"/>
              <a:pathLst>
                <a:path h="2406904" w="10250043">
                  <a:moveTo>
                    <a:pt x="0" y="617220"/>
                  </a:moveTo>
                  <a:cubicBezTo>
                    <a:pt x="0" y="276352"/>
                    <a:pt x="276352" y="0"/>
                    <a:pt x="617220" y="0"/>
                  </a:cubicBezTo>
                  <a:lnTo>
                    <a:pt x="9632823" y="0"/>
                  </a:lnTo>
                  <a:cubicBezTo>
                    <a:pt x="9973691" y="0"/>
                    <a:pt x="10250043" y="276352"/>
                    <a:pt x="10250043" y="617220"/>
                  </a:cubicBezTo>
                  <a:lnTo>
                    <a:pt x="10250043" y="1789684"/>
                  </a:lnTo>
                  <a:cubicBezTo>
                    <a:pt x="10250043" y="2130552"/>
                    <a:pt x="9973691" y="2406904"/>
                    <a:pt x="9632823" y="2406904"/>
                  </a:cubicBezTo>
                  <a:lnTo>
                    <a:pt x="617220" y="2406904"/>
                  </a:lnTo>
                  <a:cubicBezTo>
                    <a:pt x="276352" y="2406904"/>
                    <a:pt x="0" y="2130552"/>
                    <a:pt x="0" y="1789684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38430" y="5661717"/>
            <a:ext cx="385762" cy="308524"/>
            <a:chOff x="0" y="0"/>
            <a:chExt cx="514350" cy="41136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14350" cy="411353"/>
            </a:xfrm>
            <a:custGeom>
              <a:avLst/>
              <a:gdLst/>
              <a:ahLst/>
              <a:cxnLst/>
              <a:rect r="r" b="b" t="t" l="l"/>
              <a:pathLst>
                <a:path h="411353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11353"/>
                  </a:lnTo>
                  <a:lnTo>
                    <a:pt x="0" y="41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34" t="0" r="-1237" b="-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532716" y="5426869"/>
            <a:ext cx="6376245" cy="113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All interfaces verified with show ip interface brief and show ip route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54496" y="672103"/>
            <a:ext cx="9478270" cy="73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 &amp; How It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164234" y="1814065"/>
            <a:ext cx="11959533" cy="5473456"/>
            <a:chOff x="0" y="0"/>
            <a:chExt cx="15946044" cy="729794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945993" cy="7297928"/>
            </a:xfrm>
            <a:custGeom>
              <a:avLst/>
              <a:gdLst/>
              <a:ahLst/>
              <a:cxnLst/>
              <a:rect r="r" b="b" t="t" l="l"/>
              <a:pathLst>
                <a:path h="7297928" w="15945993">
                  <a:moveTo>
                    <a:pt x="0" y="0"/>
                  </a:moveTo>
                  <a:lnTo>
                    <a:pt x="15945993" y="0"/>
                  </a:lnTo>
                  <a:lnTo>
                    <a:pt x="15945993" y="7297928"/>
                  </a:lnTo>
                  <a:lnTo>
                    <a:pt x="0" y="7297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" r="0" b="-15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3006759" y="3180636"/>
            <a:ext cx="768934" cy="768934"/>
          </a:xfrm>
          <a:custGeom>
            <a:avLst/>
            <a:gdLst/>
            <a:ahLst/>
            <a:cxnLst/>
            <a:rect r="r" b="b" t="t" l="l"/>
            <a:pathLst>
              <a:path h="768934" w="768934">
                <a:moveTo>
                  <a:pt x="0" y="0"/>
                </a:moveTo>
                <a:lnTo>
                  <a:pt x="768934" y="0"/>
                </a:lnTo>
                <a:lnTo>
                  <a:pt x="768934" y="768934"/>
                </a:lnTo>
                <a:lnTo>
                  <a:pt x="0" y="768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024" r="0" b="-802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21683" y="5983195"/>
            <a:ext cx="2245300" cy="41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Update DB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191721" y="3182083"/>
            <a:ext cx="768934" cy="768934"/>
          </a:xfrm>
          <a:custGeom>
            <a:avLst/>
            <a:gdLst/>
            <a:ahLst/>
            <a:cxnLst/>
            <a:rect r="r" b="b" t="t" l="l"/>
            <a:pathLst>
              <a:path h="768934" w="768934">
                <a:moveTo>
                  <a:pt x="0" y="0"/>
                </a:moveTo>
                <a:lnTo>
                  <a:pt x="768935" y="0"/>
                </a:lnTo>
                <a:lnTo>
                  <a:pt x="768935" y="768935"/>
                </a:lnTo>
                <a:lnTo>
                  <a:pt x="0" y="7689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493" r="0" b="-1049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91996" y="5983195"/>
            <a:ext cx="2245300" cy="41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Evaluate Reply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7377408" y="3182083"/>
            <a:ext cx="768934" cy="768934"/>
          </a:xfrm>
          <a:custGeom>
            <a:avLst/>
            <a:gdLst/>
            <a:ahLst/>
            <a:cxnLst/>
            <a:rect r="r" b="b" t="t" l="l"/>
            <a:pathLst>
              <a:path h="768934" w="768934">
                <a:moveTo>
                  <a:pt x="0" y="0"/>
                </a:moveTo>
                <a:lnTo>
                  <a:pt x="768934" y="0"/>
                </a:lnTo>
                <a:lnTo>
                  <a:pt x="768934" y="768935"/>
                </a:lnTo>
                <a:lnTo>
                  <a:pt x="0" y="7689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6667" r="0" b="-1666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77682" y="5983195"/>
            <a:ext cx="2245300" cy="41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Send Ping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4547721" y="3182083"/>
            <a:ext cx="768934" cy="768934"/>
          </a:xfrm>
          <a:custGeom>
            <a:avLst/>
            <a:gdLst/>
            <a:ahLst/>
            <a:cxnLst/>
            <a:rect r="r" b="b" t="t" l="l"/>
            <a:pathLst>
              <a:path h="768934" w="768934">
                <a:moveTo>
                  <a:pt x="0" y="0"/>
                </a:moveTo>
                <a:lnTo>
                  <a:pt x="768934" y="0"/>
                </a:lnTo>
                <a:lnTo>
                  <a:pt x="768934" y="768935"/>
                </a:lnTo>
                <a:lnTo>
                  <a:pt x="0" y="768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320" t="0" r="-432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01847" y="5983195"/>
            <a:ext cx="2245300" cy="41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Login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4496" y="7701258"/>
            <a:ext cx="2786062" cy="36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Architecture Layers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4496" y="8215017"/>
            <a:ext cx="7383666" cy="12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2812"/>
              </a:lnSpc>
              <a:buFont typeface="Arial"/>
              <a:buChar char="•"/>
            </a:pPr>
            <a:r>
              <a:rPr lang="en-US" b="true" sz="1937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Frontend:</a:t>
            </a: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HTML dashboard in browser</a:t>
            </a:r>
          </a:p>
          <a:p>
            <a:pPr algn="l" marL="292199" indent="-146100" lvl="1">
              <a:lnSpc>
                <a:spcPts val="2812"/>
              </a:lnSpc>
              <a:buFont typeface="Arial"/>
              <a:buChar char="•"/>
            </a:pPr>
            <a:r>
              <a:rPr lang="en-US" b="true" sz="1937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Backend:</a:t>
            </a: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Flask (Python) on Ubuntu VM</a:t>
            </a:r>
          </a:p>
          <a:p>
            <a:pPr algn="l" marL="292199" indent="-146100" lvl="1">
              <a:lnSpc>
                <a:spcPts val="2812"/>
              </a:lnSpc>
              <a:buFont typeface="Arial"/>
              <a:buChar char="•"/>
            </a:pPr>
            <a:r>
              <a:rPr lang="en-US" b="true" sz="1937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Database:</a:t>
            </a: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SQLite for logs &amp; device records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9363" y="7701258"/>
            <a:ext cx="2786062" cy="36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Device Status Logic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59363" y="8215017"/>
            <a:ext cx="7383666" cy="12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2812"/>
              </a:lnSpc>
              <a:buFont typeface="Arial"/>
              <a:buChar char="•"/>
            </a:pPr>
            <a:r>
              <a:rPr lang="en-US" b="true" sz="1937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UP</a:t>
            </a: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ping succeeds consistently</a:t>
            </a:r>
          </a:p>
          <a:p>
            <a:pPr algn="l" marL="292199" indent="-146100" lvl="1">
              <a:lnSpc>
                <a:spcPts val="2812"/>
              </a:lnSpc>
              <a:buFont typeface="Arial"/>
              <a:buChar char="•"/>
            </a:pPr>
            <a:r>
              <a:rPr lang="en-US" b="true" sz="1937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UNSTABLE</a:t>
            </a: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partial ping success</a:t>
            </a:r>
          </a:p>
          <a:p>
            <a:pPr algn="l" marL="292199" indent="-146100" lvl="1">
              <a:lnSpc>
                <a:spcPts val="2812"/>
              </a:lnSpc>
              <a:buFont typeface="Arial"/>
              <a:buChar char="•"/>
            </a:pPr>
            <a:r>
              <a:rPr lang="en-US" b="true" sz="1937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DOWN</a:t>
            </a: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ping fails; retry logic avoids false alarms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63228" y="816769"/>
            <a:ext cx="7609284" cy="89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The Watcher Dashboard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3228" y="3194895"/>
            <a:ext cx="10245481" cy="5189191"/>
            <a:chOff x="0" y="0"/>
            <a:chExt cx="13660641" cy="691892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660628" cy="6918960"/>
            </a:xfrm>
            <a:custGeom>
              <a:avLst/>
              <a:gdLst/>
              <a:ahLst/>
              <a:cxnLst/>
              <a:rect r="r" b="b" t="t" l="l"/>
              <a:pathLst>
                <a:path h="6918960" w="13660628">
                  <a:moveTo>
                    <a:pt x="0" y="0"/>
                  </a:moveTo>
                  <a:lnTo>
                    <a:pt x="13660628" y="0"/>
                  </a:lnTo>
                  <a:lnTo>
                    <a:pt x="13660628" y="6918960"/>
                  </a:lnTo>
                  <a:lnTo>
                    <a:pt x="0" y="691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59393" y="2417559"/>
            <a:ext cx="3375422" cy="46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Dashboard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59393" y="3081338"/>
            <a:ext cx="5174752" cy="340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749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View all devices with IP, Lab, Type &amp; Status</a:t>
            </a:r>
          </a:p>
          <a:p>
            <a:pPr algn="l" marL="358180" indent="-179090" lvl="1">
              <a:lnSpc>
                <a:spcPts val="3749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Add or delete devices dynamically</a:t>
            </a:r>
          </a:p>
          <a:p>
            <a:pPr algn="l" marL="358180" indent="-179090" lvl="1">
              <a:lnSpc>
                <a:spcPts val="3749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History and logs for each device</a:t>
            </a:r>
          </a:p>
          <a:p>
            <a:pPr algn="l" marL="358180" indent="-179090" lvl="1">
              <a:lnSpc>
                <a:spcPts val="3749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Auto-refresh every 30 seconds</a:t>
            </a:r>
          </a:p>
          <a:p>
            <a:pPr algn="l" marL="358180" indent="-179090" lvl="1">
              <a:lnSpc>
                <a:spcPts val="3749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Export report functionality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59393" y="6824662"/>
            <a:ext cx="5174752" cy="2261445"/>
            <a:chOff x="0" y="0"/>
            <a:chExt cx="6899669" cy="30152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99656" cy="3015234"/>
            </a:xfrm>
            <a:custGeom>
              <a:avLst/>
              <a:gdLst/>
              <a:ahLst/>
              <a:cxnLst/>
              <a:rect r="r" b="b" t="t" l="l"/>
              <a:pathLst>
                <a:path h="3015234" w="6899656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lnTo>
                    <a:pt x="6292088" y="0"/>
                  </a:lnTo>
                  <a:cubicBezTo>
                    <a:pt x="6627622" y="0"/>
                    <a:pt x="6899656" y="272034"/>
                    <a:pt x="6899656" y="607568"/>
                  </a:cubicBezTo>
                  <a:lnTo>
                    <a:pt x="6899656" y="2407666"/>
                  </a:lnTo>
                  <a:cubicBezTo>
                    <a:pt x="6899656" y="2743200"/>
                    <a:pt x="6627622" y="3015234"/>
                    <a:pt x="6292088" y="3015234"/>
                  </a:cubicBezTo>
                  <a:lnTo>
                    <a:pt x="607568" y="3015234"/>
                  </a:lnTo>
                  <a:cubicBezTo>
                    <a:pt x="272034" y="3015234"/>
                    <a:pt x="0" y="2743200"/>
                    <a:pt x="0" y="2407666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63155" y="7300465"/>
            <a:ext cx="379657" cy="303762"/>
            <a:chOff x="0" y="0"/>
            <a:chExt cx="506209" cy="40501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06222" cy="405003"/>
            </a:xfrm>
            <a:custGeom>
              <a:avLst/>
              <a:gdLst/>
              <a:ahLst/>
              <a:cxnLst/>
              <a:rect r="r" b="b" t="t" l="l"/>
              <a:pathLst>
                <a:path h="405003" w="506222">
                  <a:moveTo>
                    <a:pt x="0" y="0"/>
                  </a:moveTo>
                  <a:lnTo>
                    <a:pt x="506222" y="0"/>
                  </a:lnTo>
                  <a:lnTo>
                    <a:pt x="506222" y="405003"/>
                  </a:lnTo>
                  <a:lnTo>
                    <a:pt x="0" y="405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" t="0" r="-2" b="-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046573" y="7104307"/>
            <a:ext cx="3883819" cy="156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37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Access at http://127.0.0.1:5000 — first run: visit /init to seed users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653330"/>
            <a:ext cx="1009709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Problems We Faced &amp; Solutions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0999" y="3165872"/>
            <a:ext cx="7947717" cy="2826544"/>
            <a:chOff x="0" y="0"/>
            <a:chExt cx="10596956" cy="3768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546207" cy="3717925"/>
            </a:xfrm>
            <a:custGeom>
              <a:avLst/>
              <a:gdLst/>
              <a:ahLst/>
              <a:cxnLst/>
              <a:rect r="r" b="b" t="t" l="l"/>
              <a:pathLst>
                <a:path h="3717925" w="10546207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10300208" y="0"/>
                  </a:lnTo>
                  <a:cubicBezTo>
                    <a:pt x="10436098" y="0"/>
                    <a:pt x="10546207" y="109220"/>
                    <a:pt x="10546207" y="243840"/>
                  </a:cubicBezTo>
                  <a:lnTo>
                    <a:pt x="10546207" y="3474085"/>
                  </a:lnTo>
                  <a:cubicBezTo>
                    <a:pt x="10546207" y="3608705"/>
                    <a:pt x="10436098" y="3717925"/>
                    <a:pt x="10300208" y="3717925"/>
                  </a:cubicBezTo>
                  <a:lnTo>
                    <a:pt x="245999" y="3717925"/>
                  </a:lnTo>
                  <a:cubicBezTo>
                    <a:pt x="110109" y="3717925"/>
                    <a:pt x="0" y="3608705"/>
                    <a:pt x="0" y="3474085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97007" cy="3768725"/>
            </a:xfrm>
            <a:custGeom>
              <a:avLst/>
              <a:gdLst/>
              <a:ahLst/>
              <a:cxnLst/>
              <a:rect r="r" b="b" t="t" l="l"/>
              <a:pathLst>
                <a:path h="3768725" w="10597007">
                  <a:moveTo>
                    <a:pt x="0" y="269240"/>
                  </a:moveTo>
                  <a:cubicBezTo>
                    <a:pt x="0" y="120269"/>
                    <a:pt x="121666" y="0"/>
                    <a:pt x="271399" y="0"/>
                  </a:cubicBezTo>
                  <a:lnTo>
                    <a:pt x="10325608" y="0"/>
                  </a:lnTo>
                  <a:lnTo>
                    <a:pt x="10325608" y="25400"/>
                  </a:lnTo>
                  <a:lnTo>
                    <a:pt x="10325608" y="0"/>
                  </a:lnTo>
                  <a:cubicBezTo>
                    <a:pt x="10475214" y="0"/>
                    <a:pt x="10597007" y="120269"/>
                    <a:pt x="10597007" y="269240"/>
                  </a:cubicBezTo>
                  <a:lnTo>
                    <a:pt x="10571607" y="269240"/>
                  </a:lnTo>
                  <a:lnTo>
                    <a:pt x="10597007" y="269240"/>
                  </a:lnTo>
                  <a:lnTo>
                    <a:pt x="10597007" y="3499485"/>
                  </a:lnTo>
                  <a:lnTo>
                    <a:pt x="10571607" y="3499485"/>
                  </a:lnTo>
                  <a:lnTo>
                    <a:pt x="10597007" y="3499485"/>
                  </a:lnTo>
                  <a:cubicBezTo>
                    <a:pt x="10597007" y="3648329"/>
                    <a:pt x="10475340" y="3768725"/>
                    <a:pt x="10325608" y="3768725"/>
                  </a:cubicBezTo>
                  <a:lnTo>
                    <a:pt x="10325608" y="3743325"/>
                  </a:lnTo>
                  <a:lnTo>
                    <a:pt x="10325608" y="3768725"/>
                  </a:lnTo>
                  <a:lnTo>
                    <a:pt x="271399" y="3768725"/>
                  </a:lnTo>
                  <a:lnTo>
                    <a:pt x="271399" y="3743325"/>
                  </a:lnTo>
                  <a:lnTo>
                    <a:pt x="271399" y="3768725"/>
                  </a:lnTo>
                  <a:cubicBezTo>
                    <a:pt x="121666" y="3768725"/>
                    <a:pt x="0" y="3648456"/>
                    <a:pt x="0" y="349948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499485"/>
                  </a:lnTo>
                  <a:lnTo>
                    <a:pt x="25400" y="3499485"/>
                  </a:lnTo>
                  <a:lnTo>
                    <a:pt x="50800" y="3499485"/>
                  </a:lnTo>
                  <a:cubicBezTo>
                    <a:pt x="50800" y="3619881"/>
                    <a:pt x="149352" y="3717925"/>
                    <a:pt x="271399" y="3717925"/>
                  </a:cubicBezTo>
                  <a:lnTo>
                    <a:pt x="10325608" y="3717925"/>
                  </a:lnTo>
                  <a:cubicBezTo>
                    <a:pt x="10447655" y="3717925"/>
                    <a:pt x="10546207" y="3619881"/>
                    <a:pt x="10546207" y="3499485"/>
                  </a:cubicBezTo>
                  <a:lnTo>
                    <a:pt x="10546207" y="269240"/>
                  </a:lnTo>
                  <a:cubicBezTo>
                    <a:pt x="10546207" y="148844"/>
                    <a:pt x="10447655" y="50800"/>
                    <a:pt x="10325608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1949" y="3184922"/>
            <a:ext cx="152400" cy="2788444"/>
            <a:chOff x="0" y="0"/>
            <a:chExt cx="203200" cy="3717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3717925"/>
            </a:xfrm>
            <a:custGeom>
              <a:avLst/>
              <a:gdLst/>
              <a:ahLst/>
              <a:cxnLst/>
              <a:rect r="r" b="b" t="t" l="l"/>
              <a:pathLst>
                <a:path h="3717925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616325"/>
                  </a:lnTo>
                  <a:cubicBezTo>
                    <a:pt x="203200" y="3672459"/>
                    <a:pt x="157734" y="3717925"/>
                    <a:pt x="101600" y="3717925"/>
                  </a:cubicBezTo>
                  <a:cubicBezTo>
                    <a:pt x="45466" y="3717925"/>
                    <a:pt x="0" y="3672459"/>
                    <a:pt x="0" y="3616325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40964" y="3502971"/>
            <a:ext cx="362679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VNet/Hyper-V Conflict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0964" y="4040534"/>
            <a:ext cx="7102078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GNS3 VM failed to start — fixed by disabling virtualization checkboxes in VMware processor settings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79141" y="3165872"/>
            <a:ext cx="7947870" cy="2826544"/>
            <a:chOff x="0" y="0"/>
            <a:chExt cx="10597159" cy="3768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546334" cy="3717925"/>
            </a:xfrm>
            <a:custGeom>
              <a:avLst/>
              <a:gdLst/>
              <a:ahLst/>
              <a:cxnLst/>
              <a:rect r="r" b="b" t="t" l="l"/>
              <a:pathLst>
                <a:path h="3717925" w="10546334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10300335" y="0"/>
                  </a:lnTo>
                  <a:cubicBezTo>
                    <a:pt x="10436225" y="0"/>
                    <a:pt x="10546334" y="109220"/>
                    <a:pt x="10546334" y="243840"/>
                  </a:cubicBezTo>
                  <a:lnTo>
                    <a:pt x="10546334" y="3474085"/>
                  </a:lnTo>
                  <a:cubicBezTo>
                    <a:pt x="10546334" y="3608705"/>
                    <a:pt x="10436225" y="3717925"/>
                    <a:pt x="10300335" y="3717925"/>
                  </a:cubicBezTo>
                  <a:lnTo>
                    <a:pt x="245999" y="3717925"/>
                  </a:lnTo>
                  <a:cubicBezTo>
                    <a:pt x="110109" y="3717925"/>
                    <a:pt x="0" y="3608705"/>
                    <a:pt x="0" y="3474085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97134" cy="3768725"/>
            </a:xfrm>
            <a:custGeom>
              <a:avLst/>
              <a:gdLst/>
              <a:ahLst/>
              <a:cxnLst/>
              <a:rect r="r" b="b" t="t" l="l"/>
              <a:pathLst>
                <a:path h="3768725" w="10597134">
                  <a:moveTo>
                    <a:pt x="0" y="269240"/>
                  </a:moveTo>
                  <a:cubicBezTo>
                    <a:pt x="0" y="120269"/>
                    <a:pt x="121666" y="0"/>
                    <a:pt x="271399" y="0"/>
                  </a:cubicBezTo>
                  <a:lnTo>
                    <a:pt x="10325735" y="0"/>
                  </a:lnTo>
                  <a:lnTo>
                    <a:pt x="10325735" y="25400"/>
                  </a:lnTo>
                  <a:lnTo>
                    <a:pt x="10325735" y="0"/>
                  </a:lnTo>
                  <a:cubicBezTo>
                    <a:pt x="10475341" y="0"/>
                    <a:pt x="10597134" y="120269"/>
                    <a:pt x="10597134" y="269240"/>
                  </a:cubicBezTo>
                  <a:lnTo>
                    <a:pt x="10571734" y="269240"/>
                  </a:lnTo>
                  <a:lnTo>
                    <a:pt x="10597134" y="269240"/>
                  </a:lnTo>
                  <a:lnTo>
                    <a:pt x="10597134" y="3499485"/>
                  </a:lnTo>
                  <a:lnTo>
                    <a:pt x="10571734" y="3499485"/>
                  </a:lnTo>
                  <a:lnTo>
                    <a:pt x="10597134" y="3499485"/>
                  </a:lnTo>
                  <a:cubicBezTo>
                    <a:pt x="10597134" y="3648329"/>
                    <a:pt x="10475468" y="3768725"/>
                    <a:pt x="10325735" y="3768725"/>
                  </a:cubicBezTo>
                  <a:lnTo>
                    <a:pt x="10325735" y="3743325"/>
                  </a:lnTo>
                  <a:lnTo>
                    <a:pt x="10325735" y="3768725"/>
                  </a:lnTo>
                  <a:lnTo>
                    <a:pt x="271399" y="3768725"/>
                  </a:lnTo>
                  <a:lnTo>
                    <a:pt x="271399" y="3743325"/>
                  </a:lnTo>
                  <a:lnTo>
                    <a:pt x="271399" y="3768725"/>
                  </a:lnTo>
                  <a:cubicBezTo>
                    <a:pt x="121666" y="3768725"/>
                    <a:pt x="0" y="3648456"/>
                    <a:pt x="0" y="349948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499485"/>
                  </a:lnTo>
                  <a:lnTo>
                    <a:pt x="25400" y="3499485"/>
                  </a:lnTo>
                  <a:lnTo>
                    <a:pt x="50800" y="3499485"/>
                  </a:lnTo>
                  <a:cubicBezTo>
                    <a:pt x="50800" y="3619881"/>
                    <a:pt x="149352" y="3717925"/>
                    <a:pt x="271399" y="3717925"/>
                  </a:cubicBezTo>
                  <a:lnTo>
                    <a:pt x="10325735" y="3717925"/>
                  </a:lnTo>
                  <a:cubicBezTo>
                    <a:pt x="10447782" y="3717925"/>
                    <a:pt x="10546334" y="3619881"/>
                    <a:pt x="10546334" y="3499485"/>
                  </a:cubicBezTo>
                  <a:lnTo>
                    <a:pt x="10546334" y="269240"/>
                  </a:lnTo>
                  <a:cubicBezTo>
                    <a:pt x="10546334" y="148844"/>
                    <a:pt x="10447782" y="50800"/>
                    <a:pt x="10325735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60091" y="3184922"/>
            <a:ext cx="152400" cy="2788444"/>
            <a:chOff x="0" y="0"/>
            <a:chExt cx="203200" cy="37179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3717925"/>
            </a:xfrm>
            <a:custGeom>
              <a:avLst/>
              <a:gdLst/>
              <a:ahLst/>
              <a:cxnLst/>
              <a:rect r="r" b="b" t="t" l="l"/>
              <a:pathLst>
                <a:path h="3717925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616325"/>
                  </a:lnTo>
                  <a:cubicBezTo>
                    <a:pt x="203200" y="3672459"/>
                    <a:pt x="157734" y="3717925"/>
                    <a:pt x="101600" y="3717925"/>
                  </a:cubicBezTo>
                  <a:cubicBezTo>
                    <a:pt x="45466" y="3717925"/>
                    <a:pt x="0" y="3672459"/>
                    <a:pt x="0" y="3616325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59105" y="3502971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Zabbix Failure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59105" y="4040534"/>
            <a:ext cx="7102231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Zabbix couldn't store or display device stats — replaced with a custom Flask app built with Claude 3.5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999" y="6262840"/>
            <a:ext cx="7947717" cy="2332730"/>
            <a:chOff x="0" y="0"/>
            <a:chExt cx="10596956" cy="31103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546207" cy="3059557"/>
            </a:xfrm>
            <a:custGeom>
              <a:avLst/>
              <a:gdLst/>
              <a:ahLst/>
              <a:cxnLst/>
              <a:rect r="r" b="b" t="t" l="l"/>
              <a:pathLst>
                <a:path h="3059557" w="10546207">
                  <a:moveTo>
                    <a:pt x="0" y="243840"/>
                  </a:moveTo>
                  <a:cubicBezTo>
                    <a:pt x="0" y="109220"/>
                    <a:pt x="110490" y="0"/>
                    <a:pt x="246761" y="0"/>
                  </a:cubicBezTo>
                  <a:lnTo>
                    <a:pt x="10299446" y="0"/>
                  </a:lnTo>
                  <a:cubicBezTo>
                    <a:pt x="10435717" y="0"/>
                    <a:pt x="10546207" y="109220"/>
                    <a:pt x="10546207" y="243840"/>
                  </a:cubicBezTo>
                  <a:lnTo>
                    <a:pt x="10546207" y="2815717"/>
                  </a:lnTo>
                  <a:cubicBezTo>
                    <a:pt x="10546207" y="2950337"/>
                    <a:pt x="10435717" y="3059557"/>
                    <a:pt x="10299446" y="3059557"/>
                  </a:cubicBezTo>
                  <a:lnTo>
                    <a:pt x="246761" y="3059557"/>
                  </a:lnTo>
                  <a:cubicBezTo>
                    <a:pt x="110490" y="3059557"/>
                    <a:pt x="0" y="2950337"/>
                    <a:pt x="0" y="2815717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97007" cy="3110357"/>
            </a:xfrm>
            <a:custGeom>
              <a:avLst/>
              <a:gdLst/>
              <a:ahLst/>
              <a:cxnLst/>
              <a:rect r="r" b="b" t="t" l="l"/>
              <a:pathLst>
                <a:path h="3110357" w="10597007">
                  <a:moveTo>
                    <a:pt x="0" y="269240"/>
                  </a:moveTo>
                  <a:cubicBezTo>
                    <a:pt x="0" y="120269"/>
                    <a:pt x="122047" y="0"/>
                    <a:pt x="272161" y="0"/>
                  </a:cubicBezTo>
                  <a:lnTo>
                    <a:pt x="10324846" y="0"/>
                  </a:lnTo>
                  <a:lnTo>
                    <a:pt x="10324846" y="25400"/>
                  </a:lnTo>
                  <a:lnTo>
                    <a:pt x="10324846" y="0"/>
                  </a:lnTo>
                  <a:cubicBezTo>
                    <a:pt x="10474833" y="0"/>
                    <a:pt x="10597007" y="120269"/>
                    <a:pt x="10597007" y="269240"/>
                  </a:cubicBezTo>
                  <a:lnTo>
                    <a:pt x="10571607" y="269240"/>
                  </a:lnTo>
                  <a:lnTo>
                    <a:pt x="10597007" y="269240"/>
                  </a:lnTo>
                  <a:lnTo>
                    <a:pt x="10597007" y="2841117"/>
                  </a:lnTo>
                  <a:lnTo>
                    <a:pt x="10571607" y="2841117"/>
                  </a:lnTo>
                  <a:lnTo>
                    <a:pt x="10597007" y="2841117"/>
                  </a:lnTo>
                  <a:cubicBezTo>
                    <a:pt x="10597007" y="2990088"/>
                    <a:pt x="10474960" y="3110357"/>
                    <a:pt x="10324846" y="3110357"/>
                  </a:cubicBezTo>
                  <a:lnTo>
                    <a:pt x="10324846" y="3084957"/>
                  </a:lnTo>
                  <a:lnTo>
                    <a:pt x="10324846" y="3110357"/>
                  </a:lnTo>
                  <a:lnTo>
                    <a:pt x="272161" y="3110357"/>
                  </a:lnTo>
                  <a:lnTo>
                    <a:pt x="272161" y="3084957"/>
                  </a:lnTo>
                  <a:lnTo>
                    <a:pt x="272161" y="3110357"/>
                  </a:lnTo>
                  <a:cubicBezTo>
                    <a:pt x="122047" y="3110357"/>
                    <a:pt x="0" y="2990088"/>
                    <a:pt x="0" y="284111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41117"/>
                  </a:lnTo>
                  <a:lnTo>
                    <a:pt x="25400" y="2841117"/>
                  </a:lnTo>
                  <a:lnTo>
                    <a:pt x="50800" y="2841117"/>
                  </a:lnTo>
                  <a:cubicBezTo>
                    <a:pt x="50800" y="2961513"/>
                    <a:pt x="149606" y="3059557"/>
                    <a:pt x="272161" y="3059557"/>
                  </a:cubicBezTo>
                  <a:lnTo>
                    <a:pt x="10324846" y="3059557"/>
                  </a:lnTo>
                  <a:cubicBezTo>
                    <a:pt x="10447401" y="3059557"/>
                    <a:pt x="10546207" y="2961513"/>
                    <a:pt x="10546207" y="2841117"/>
                  </a:cubicBezTo>
                  <a:lnTo>
                    <a:pt x="10546207" y="269240"/>
                  </a:lnTo>
                  <a:cubicBezTo>
                    <a:pt x="10546207" y="148844"/>
                    <a:pt x="10447401" y="50800"/>
                    <a:pt x="10324846" y="50800"/>
                  </a:cubicBezTo>
                  <a:lnTo>
                    <a:pt x="272161" y="50800"/>
                  </a:lnTo>
                  <a:lnTo>
                    <a:pt x="272161" y="25400"/>
                  </a:lnTo>
                  <a:lnTo>
                    <a:pt x="272161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41949" y="6281890"/>
            <a:ext cx="152400" cy="2294630"/>
            <a:chOff x="0" y="0"/>
            <a:chExt cx="203200" cy="30595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3059557"/>
            </a:xfrm>
            <a:custGeom>
              <a:avLst/>
              <a:gdLst/>
              <a:ahLst/>
              <a:cxnLst/>
              <a:rect r="r" b="b" t="t" l="l"/>
              <a:pathLst>
                <a:path h="3059557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957957"/>
                  </a:lnTo>
                  <a:cubicBezTo>
                    <a:pt x="203200" y="3014091"/>
                    <a:pt x="157734" y="3059557"/>
                    <a:pt x="101600" y="3059557"/>
                  </a:cubicBezTo>
                  <a:cubicBezTo>
                    <a:pt x="45466" y="3059557"/>
                    <a:pt x="0" y="3014091"/>
                    <a:pt x="0" y="2957957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540964" y="6599930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Switch Compatibility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964" y="7137502"/>
            <a:ext cx="7102078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GNS3 switches caused persistent errors — workaround: replaced switches with routers (Layer 3)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79141" y="6262840"/>
            <a:ext cx="7947870" cy="2332730"/>
            <a:chOff x="0" y="0"/>
            <a:chExt cx="10597159" cy="31103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546461" cy="3059557"/>
            </a:xfrm>
            <a:custGeom>
              <a:avLst/>
              <a:gdLst/>
              <a:ahLst/>
              <a:cxnLst/>
              <a:rect r="r" b="b" t="t" l="l"/>
              <a:pathLst>
                <a:path h="3059557" w="10546461">
                  <a:moveTo>
                    <a:pt x="0" y="243840"/>
                  </a:moveTo>
                  <a:cubicBezTo>
                    <a:pt x="0" y="109220"/>
                    <a:pt x="110490" y="0"/>
                    <a:pt x="246761" y="0"/>
                  </a:cubicBezTo>
                  <a:lnTo>
                    <a:pt x="10299700" y="0"/>
                  </a:lnTo>
                  <a:cubicBezTo>
                    <a:pt x="10435971" y="0"/>
                    <a:pt x="10546461" y="109220"/>
                    <a:pt x="10546461" y="243840"/>
                  </a:cubicBezTo>
                  <a:lnTo>
                    <a:pt x="10546461" y="2815717"/>
                  </a:lnTo>
                  <a:cubicBezTo>
                    <a:pt x="10546461" y="2950337"/>
                    <a:pt x="10435971" y="3059557"/>
                    <a:pt x="10299700" y="3059557"/>
                  </a:cubicBezTo>
                  <a:lnTo>
                    <a:pt x="246761" y="3059557"/>
                  </a:lnTo>
                  <a:cubicBezTo>
                    <a:pt x="110490" y="3059557"/>
                    <a:pt x="0" y="2950337"/>
                    <a:pt x="0" y="2815717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97261" cy="3110357"/>
            </a:xfrm>
            <a:custGeom>
              <a:avLst/>
              <a:gdLst/>
              <a:ahLst/>
              <a:cxnLst/>
              <a:rect r="r" b="b" t="t" l="l"/>
              <a:pathLst>
                <a:path h="3110357" w="10597261">
                  <a:moveTo>
                    <a:pt x="0" y="269240"/>
                  </a:moveTo>
                  <a:cubicBezTo>
                    <a:pt x="0" y="120269"/>
                    <a:pt x="122047" y="0"/>
                    <a:pt x="272161" y="0"/>
                  </a:cubicBezTo>
                  <a:lnTo>
                    <a:pt x="10325100" y="0"/>
                  </a:lnTo>
                  <a:lnTo>
                    <a:pt x="10325100" y="25400"/>
                  </a:lnTo>
                  <a:lnTo>
                    <a:pt x="10325100" y="0"/>
                  </a:lnTo>
                  <a:cubicBezTo>
                    <a:pt x="10475087" y="0"/>
                    <a:pt x="10597261" y="120269"/>
                    <a:pt x="10597261" y="269240"/>
                  </a:cubicBezTo>
                  <a:lnTo>
                    <a:pt x="10571861" y="269240"/>
                  </a:lnTo>
                  <a:lnTo>
                    <a:pt x="10597261" y="269240"/>
                  </a:lnTo>
                  <a:lnTo>
                    <a:pt x="10597261" y="2841117"/>
                  </a:lnTo>
                  <a:lnTo>
                    <a:pt x="10571861" y="2841117"/>
                  </a:lnTo>
                  <a:lnTo>
                    <a:pt x="10597261" y="2841117"/>
                  </a:lnTo>
                  <a:cubicBezTo>
                    <a:pt x="10597261" y="2990088"/>
                    <a:pt x="10475214" y="3110357"/>
                    <a:pt x="10325100" y="3110357"/>
                  </a:cubicBezTo>
                  <a:lnTo>
                    <a:pt x="10325100" y="3084957"/>
                  </a:lnTo>
                  <a:lnTo>
                    <a:pt x="10325100" y="3110357"/>
                  </a:lnTo>
                  <a:lnTo>
                    <a:pt x="272161" y="3110357"/>
                  </a:lnTo>
                  <a:lnTo>
                    <a:pt x="272161" y="3084957"/>
                  </a:lnTo>
                  <a:lnTo>
                    <a:pt x="272161" y="3110357"/>
                  </a:lnTo>
                  <a:cubicBezTo>
                    <a:pt x="122047" y="3110357"/>
                    <a:pt x="0" y="2990088"/>
                    <a:pt x="0" y="284111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41117"/>
                  </a:lnTo>
                  <a:lnTo>
                    <a:pt x="25400" y="2841117"/>
                  </a:lnTo>
                  <a:lnTo>
                    <a:pt x="50800" y="2841117"/>
                  </a:lnTo>
                  <a:cubicBezTo>
                    <a:pt x="50800" y="2961513"/>
                    <a:pt x="149606" y="3059557"/>
                    <a:pt x="272161" y="3059557"/>
                  </a:cubicBezTo>
                  <a:lnTo>
                    <a:pt x="10325100" y="3059557"/>
                  </a:lnTo>
                  <a:cubicBezTo>
                    <a:pt x="10447655" y="3059557"/>
                    <a:pt x="10546461" y="2961513"/>
                    <a:pt x="10546461" y="2841117"/>
                  </a:cubicBezTo>
                  <a:lnTo>
                    <a:pt x="10546461" y="269240"/>
                  </a:lnTo>
                  <a:cubicBezTo>
                    <a:pt x="10546334" y="148844"/>
                    <a:pt x="10447528" y="50800"/>
                    <a:pt x="10325100" y="50800"/>
                  </a:cubicBezTo>
                  <a:lnTo>
                    <a:pt x="272161" y="50800"/>
                  </a:lnTo>
                  <a:lnTo>
                    <a:pt x="272161" y="25400"/>
                  </a:lnTo>
                  <a:lnTo>
                    <a:pt x="272161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60091" y="6281890"/>
            <a:ext cx="152400" cy="2294630"/>
            <a:chOff x="0" y="0"/>
            <a:chExt cx="203200" cy="30595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3059557"/>
            </a:xfrm>
            <a:custGeom>
              <a:avLst/>
              <a:gdLst/>
              <a:ahLst/>
              <a:cxnLst/>
              <a:rect r="r" b="b" t="t" l="l"/>
              <a:pathLst>
                <a:path h="3059557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957957"/>
                  </a:lnTo>
                  <a:cubicBezTo>
                    <a:pt x="203200" y="3014091"/>
                    <a:pt x="157734" y="3059557"/>
                    <a:pt x="101600" y="3059557"/>
                  </a:cubicBezTo>
                  <a:cubicBezTo>
                    <a:pt x="45466" y="3059557"/>
                    <a:pt x="0" y="3014091"/>
                    <a:pt x="0" y="2957957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59105" y="6599930"/>
            <a:ext cx="383351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VPCS Config Not Saving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59105" y="7137502"/>
            <a:ext cx="710223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Always type save after assigning IPs — configs are lost on restart otherwise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34603" y="981075"/>
            <a:ext cx="6618795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Future Improvements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47949" y="3140126"/>
            <a:ext cx="3268266" cy="4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What We Achieved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1923" y="3818670"/>
            <a:ext cx="4326731" cy="348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Simulated a real campus network in GNS3</a:t>
            </a:r>
          </a:p>
          <a:p>
            <a:pPr algn="l" marL="348754" indent="-174377" lvl="1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Built a live web monitoring dashboard with Flask</a:t>
            </a:r>
          </a:p>
          <a:p>
            <a:pPr algn="l" marL="348754" indent="-174377" lvl="1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Combined networking concepts with full-stack development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21059" y="3140126"/>
            <a:ext cx="3571427" cy="4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Planned Improvements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3407" y="3818670"/>
            <a:ext cx="4326731" cy="404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Switch to real switches + VLANs on Linux</a:t>
            </a:r>
          </a:p>
          <a:p>
            <a:pPr algn="l" marL="348754" indent="-174377" lvl="1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DHCP for automatic IP assignment</a:t>
            </a:r>
          </a:p>
          <a:p>
            <a:pPr algn="l" marL="348754" indent="-174377" lvl="1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Role-based login for students, doctors &amp; tech support</a:t>
            </a:r>
          </a:p>
          <a:p>
            <a:pPr algn="l" marL="348754" indent="-174377" lvl="1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Auto-ping and live status updates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582082" y="8215532"/>
            <a:ext cx="9371114" cy="1231554"/>
            <a:chOff x="0" y="0"/>
            <a:chExt cx="12494819" cy="1642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94768" cy="1641983"/>
            </a:xfrm>
            <a:custGeom>
              <a:avLst/>
              <a:gdLst/>
              <a:ahLst/>
              <a:cxnLst/>
              <a:rect r="r" b="b" t="t" l="l"/>
              <a:pathLst>
                <a:path h="1641983" w="12494768">
                  <a:moveTo>
                    <a:pt x="0" y="588264"/>
                  </a:moveTo>
                  <a:cubicBezTo>
                    <a:pt x="0" y="263398"/>
                    <a:pt x="263398" y="0"/>
                    <a:pt x="588264" y="0"/>
                  </a:cubicBezTo>
                  <a:lnTo>
                    <a:pt x="11906504" y="0"/>
                  </a:lnTo>
                  <a:cubicBezTo>
                    <a:pt x="12231370" y="0"/>
                    <a:pt x="12494768" y="263398"/>
                    <a:pt x="12494768" y="588264"/>
                  </a:cubicBezTo>
                  <a:lnTo>
                    <a:pt x="12494768" y="1053719"/>
                  </a:lnTo>
                  <a:cubicBezTo>
                    <a:pt x="12494768" y="1378585"/>
                    <a:pt x="12231370" y="1641983"/>
                    <a:pt x="11906504" y="1641983"/>
                  </a:cubicBezTo>
                  <a:lnTo>
                    <a:pt x="588264" y="1641983"/>
                  </a:lnTo>
                  <a:cubicBezTo>
                    <a:pt x="263398" y="1642110"/>
                    <a:pt x="0" y="1378712"/>
                    <a:pt x="0" y="1053719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588346" y="8636641"/>
            <a:ext cx="367608" cy="294084"/>
            <a:chOff x="0" y="0"/>
            <a:chExt cx="490144" cy="392112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90093" cy="392176"/>
            </a:xfrm>
            <a:custGeom>
              <a:avLst/>
              <a:gdLst/>
              <a:ahLst/>
              <a:cxnLst/>
              <a:rect r="r" b="b" t="t" l="l"/>
              <a:pathLst>
                <a:path h="392176" w="490093">
                  <a:moveTo>
                    <a:pt x="0" y="0"/>
                  </a:moveTo>
                  <a:lnTo>
                    <a:pt x="490093" y="0"/>
                  </a:lnTo>
                  <a:lnTo>
                    <a:pt x="490093" y="392176"/>
                  </a:lnTo>
                  <a:lnTo>
                    <a:pt x="0" y="392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3" t="0" r="-331" b="16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282780" y="8525394"/>
            <a:ext cx="8121253" cy="55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Thank you! — Questions are welcome </a:t>
            </a:r>
            <a:r>
              <a:rPr lang="en-US" sz="231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DAHHIE-bLeU</dc:identifier>
  <dcterms:modified xsi:type="dcterms:W3CDTF">2011-08-01T06:04:30Z</dcterms:modified>
  <cp:revision>1</cp:revision>
  <dc:title>Supervised By: Eng. Ibrahim Fathi Mahmoud Amria &amp; Dr. Jihad Mahmoud Amin Hamamra</dc:title>
</cp:coreProperties>
</file>